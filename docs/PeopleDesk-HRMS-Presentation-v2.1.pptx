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931920"/>
            <a:ext cx="2011680" cy="4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PeopleDesk HRMS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BFD4E8"/>
                </a:solidFill>
                <a:latin typeface="Calibri"/>
              </a:rPr>
              <a:t>Enterprise SaaS Human Resource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245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Technical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FD4E8"/>
                </a:solidFill>
                <a:latin typeface="Calibri"/>
              </a:rPr>
              <a:t>Prepared for Enterprise Architecture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8D2"/>
                </a:solidFill>
                <a:latin typeface="Calibri"/>
              </a:rPr>
              <a:t>Customer Confidential   ·   Version 2.1   ·   25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Why PeopleDesk HRMS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Six positions, each grounded in the production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4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028"/>
                <a:gridCol w="757406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Enterprise Ready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19 business domains · 600+ permission controls · 40+ approval workflows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SaaS Native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Tenant-partitioned with a three-level organizational hierarchy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Production Proven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120+ live customers at multi-million-row scale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Cloud Deployable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Containerized, orchestrated, configuration injected per environment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Open and Integrable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1,500+ documented REST endpoints plus device connectivity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Layered Security Controls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Identity, authorization, transport, data and audit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Platform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Scale of the deployed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4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10047"/>
                <a:gridCol w="541004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Business domains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REST endpoints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1,500+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Application screens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750+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Standard reports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130+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Data platform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570+ tables · 18 schemas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Permission controls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600+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Automated processes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45+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120+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Product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Nineteen functional domains on one platform and one permission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 b="1">
                <a:solidFill>
                  <a:srgbClr val="12263F"/>
                </a:solidFill>
                <a:latin typeface="Calibri"/>
              </a:rPr>
              <a:t>Core HR — </a:t>
            </a:r>
            <a:r>
              <a:rPr sz="1600">
                <a:solidFill>
                  <a:srgbClr val="41546B"/>
                </a:solidFill>
                <a:latin typeface="Calibri"/>
              </a:rPr>
              <a:t>Employee Management, Organizational Framework, Configuration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 b="1">
                <a:solidFill>
                  <a:srgbClr val="12263F"/>
                </a:solidFill>
                <a:latin typeface="Calibri"/>
              </a:rPr>
              <a:t>Time &amp; Attendance — </a:t>
            </a:r>
            <a:r>
              <a:rPr sz="1600">
                <a:solidFill>
                  <a:srgbClr val="41546B"/>
                </a:solidFill>
                <a:latin typeface="Calibri"/>
              </a:rPr>
              <a:t>Attendance, Leave &amp; Movement, Roster &amp; Shift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 b="1">
                <a:solidFill>
                  <a:srgbClr val="12263F"/>
                </a:solidFill>
                <a:latin typeface="Calibri"/>
              </a:rPr>
              <a:t>Payroll &amp; Benefits — </a:t>
            </a:r>
            <a:r>
              <a:rPr sz="1600">
                <a:solidFill>
                  <a:srgbClr val="41546B"/>
                </a:solidFill>
                <a:latin typeface="Calibri"/>
              </a:rPr>
              <a:t>Payroll &amp; Tax, Allowances, Loan, Benefits, Retirement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 b="1">
                <a:solidFill>
                  <a:srgbClr val="12263F"/>
                </a:solidFill>
                <a:latin typeface="Calibri"/>
              </a:rPr>
              <a:t>Talent — </a:t>
            </a:r>
            <a:r>
              <a:rPr sz="1600">
                <a:solidFill>
                  <a:srgbClr val="41546B"/>
                </a:solidFill>
                <a:latin typeface="Calibri"/>
              </a:rPr>
              <a:t>Recruitment, Performance, Training, Manpower Analysis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 b="1">
                <a:solidFill>
                  <a:srgbClr val="12263F"/>
                </a:solidFill>
                <a:latin typeface="Calibri"/>
              </a:rPr>
              <a:t>Governance — </a:t>
            </a:r>
            <a:r>
              <a:rPr sz="1600">
                <a:solidFill>
                  <a:srgbClr val="41546B"/>
                </a:solidFill>
                <a:latin typeface="Calibri"/>
              </a:rPr>
              <a:t>Approval Workflow, Asset, Expense, Employee Self-Service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 b="1">
                <a:solidFill>
                  <a:srgbClr val="12263F"/>
                </a:solidFill>
                <a:latin typeface="Calibri"/>
              </a:rPr>
              <a:t>Depth — </a:t>
            </a:r>
            <a:r>
              <a:rPr sz="1600">
                <a:solidFill>
                  <a:srgbClr val="41546B"/>
                </a:solidFill>
                <a:latin typeface="Calibri"/>
              </a:rPr>
              <a:t>600+ permission controls · 40+ configurable approval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Solution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Four independently deployable services over a unified data platform — interactive, reporting and batch workloads physically separated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dia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45" y="1627632"/>
            <a:ext cx="7628004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Architecture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Seven principles applied consistently across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5" cy="3072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28038"/>
                <a:gridCol w="649205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Principle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Application in PeopleDesk HRMS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Separation of Concerns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Workloads isolated by service boundary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Stateless Services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Token-based identity, no server-side session state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Configuration over Customization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Structure, roles and workflows configured per tenant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Open API Surface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Capability exposed through documented REST interfaces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Layered Security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Controls at identity, authorization, transport, data and audit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Cloud Ready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Containerized services with per-service orchestration manifests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Evidence-Based Evolution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Every change impact-analyzed against a knowledge model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Why This Architecture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Architectural decisions translated into business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4" cy="3072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10047"/>
                <a:gridCol w="541004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Business Outcome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Independent service deployment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Faster feature delivery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Workload-class separation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Lower operational risk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Stateless application tier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Enterprise scalability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Modular boundaries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Easier maintenance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Dedicated reporting tier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Predictable performance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Scheduler isolation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High-availability foundation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Configuration-led tenancy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Lower onboarding cost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Quality Attributes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Non-functional requirements and the design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5" cy="3072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28038"/>
                <a:gridCol w="649205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Quality Attribute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 Response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Stateless application services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Independently deployable services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Layered security controls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Maintainability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Modular architecture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Extensibility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Service separation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Dedicated reporting service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Background scheduler isolation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Current-generation technology across every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4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028"/>
                <a:gridCol w="757406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React 18 · TypeScript · Vite 7 · Redux Toolkit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ASP.NET Core .NET 9 · MediatR · FluentValidation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Data Access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EF Core 9 (writes) · Dapper (reads) · Stored procedures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SQL Server 2022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JWT bearer · refresh-token rotation · scope claims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Reporting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RDLC · Handlebars + headless rendering · ClosedXML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Background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Quartz.NET · .NET Hosted Services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Docker · Reverse proxy · Kubernetes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2819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8A97A8"/>
                </a:solidFill>
                <a:latin typeface="Calibri"/>
              </a:rPr>
              <a:t>Selection criteria:  modern · stable · long-term supported · enterprise proven · cloud compatible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Security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Layered controls across five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2C6CA8"/>
                </a:solidFill>
                <a:latin typeface="Calibri"/>
              </a:rPr>
              <a:t>▪  </a:t>
            </a:r>
            <a:r>
              <a:rPr sz="1500" b="1">
                <a:solidFill>
                  <a:srgbClr val="12263F"/>
                </a:solidFill>
                <a:latin typeface="Calibri"/>
              </a:rPr>
              <a:t>Authentication — </a:t>
            </a:r>
            <a:r>
              <a:rPr sz="1500">
                <a:solidFill>
                  <a:srgbClr val="41546B"/>
                </a:solidFill>
                <a:latin typeface="Calibri"/>
              </a:rPr>
              <a:t>JWT bearer with issuer and signing-key validation; server-side refresh-token rotation; federated sign-in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2C6CA8"/>
                </a:solidFill>
                <a:latin typeface="Calibri"/>
              </a:rPr>
              <a:t>▪  </a:t>
            </a:r>
            <a:r>
              <a:rPr sz="1500" b="1">
                <a:solidFill>
                  <a:srgbClr val="12263F"/>
                </a:solidFill>
                <a:latin typeface="Calibri"/>
              </a:rPr>
              <a:t>Authorization — </a:t>
            </a:r>
            <a:r>
              <a:rPr sz="1500">
                <a:solidFill>
                  <a:srgbClr val="41546B"/>
                </a:solidFill>
                <a:latin typeface="Calibri"/>
              </a:rPr>
              <a:t>600+ permission controls; role-based assignment; organizational-scope claims in the security token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2C6CA8"/>
                </a:solidFill>
                <a:latin typeface="Calibri"/>
              </a:rPr>
              <a:t>▪  </a:t>
            </a:r>
            <a:r>
              <a:rPr sz="1500" b="1">
                <a:solidFill>
                  <a:srgbClr val="12263F"/>
                </a:solidFill>
                <a:latin typeface="Calibri"/>
              </a:rPr>
              <a:t>Application data — </a:t>
            </a:r>
            <a:r>
              <a:rPr sz="1500">
                <a:solidFill>
                  <a:srgbClr val="41546B"/>
                </a:solidFill>
                <a:latin typeface="Calibri"/>
              </a:rPr>
              <a:t>payload protection, declarative validation, centralized exception handling, output sanitization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2C6CA8"/>
                </a:solidFill>
                <a:latin typeface="Calibri"/>
              </a:rPr>
              <a:t>▪  </a:t>
            </a:r>
            <a:r>
              <a:rPr sz="1500" b="1">
                <a:solidFill>
                  <a:srgbClr val="12263F"/>
                </a:solidFill>
                <a:latin typeface="Calibri"/>
              </a:rPr>
              <a:t>Transport &amp; edge — </a:t>
            </a:r>
            <a:r>
              <a:rPr sz="1500">
                <a:solidFill>
                  <a:srgbClr val="41546B"/>
                </a:solidFill>
                <a:latin typeface="Calibri"/>
              </a:rPr>
              <a:t>HTTPS enforcement, HSTS, frame protection, content-type enforcement, browser feature restriction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2C6CA8"/>
                </a:solidFill>
                <a:latin typeface="Calibri"/>
              </a:rPr>
              <a:t>▪  </a:t>
            </a:r>
            <a:r>
              <a:rPr sz="1500" b="1">
                <a:solidFill>
                  <a:srgbClr val="12263F"/>
                </a:solidFill>
                <a:latin typeface="Calibri"/>
              </a:rPr>
              <a:t>Audit — </a:t>
            </a:r>
            <a:r>
              <a:rPr sz="1500">
                <a:solidFill>
                  <a:srgbClr val="41546B"/>
                </a:solidFill>
                <a:latin typeface="Calibri"/>
              </a:rPr>
              <a:t>request-level audit trail; background process execution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Secure Development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Security controls mapped to the OWASP Secure Coding Practices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5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28038"/>
                <a:gridCol w="649205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OWASP Category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Implemented Controls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Input Validation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Server-side validation pipeline on every command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Output Encoding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Untrusted markup neutralized before rendering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Session Management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Token validation with server-side refresh-token rotation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Access Control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600+ permissioned functions with organizational scope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Error Handling &amp; Logging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Centralized handling; request-level audit trail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Communication Security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HTTPS with HSTS and the full edge header set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Database Security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Parameterized queries and stored-procedure access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263F"/>
                          </a:solidFill>
                          <a:latin typeface="Calibri"/>
                        </a:rPr>
                        <a:t>System Configuration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1546B"/>
                          </a:solidFill>
                          <a:latin typeface="Calibri"/>
                        </a:rPr>
                        <a:t>Current supported versions; per-environment configuration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SaaS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Tenant-partitioned with enterprise organizational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dia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5071922" cy="4636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7857" y="1719072"/>
            <a:ext cx="4328038" cy="4544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>
                <a:solidFill>
                  <a:srgbClr val="2C6CA8"/>
                </a:solidFill>
                <a:latin typeface="Calibri"/>
              </a:rPr>
              <a:t>▪  </a:t>
            </a:r>
            <a:r>
              <a:rPr sz="1400">
                <a:solidFill>
                  <a:srgbClr val="41546B"/>
                </a:solidFill>
                <a:latin typeface="Calibri"/>
              </a:rPr>
              <a:t>Every business record keyed to its owning tenant account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C6CA8"/>
                </a:solidFill>
                <a:latin typeface="Calibri"/>
              </a:rPr>
              <a:t>▪  </a:t>
            </a:r>
            <a:r>
              <a:rPr sz="1400">
                <a:solidFill>
                  <a:srgbClr val="41546B"/>
                </a:solidFill>
                <a:latin typeface="Calibri"/>
              </a:rPr>
              <a:t>Three-level hierarchy — business unit → workplace group → workplace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C6CA8"/>
                </a:solidFill>
                <a:latin typeface="Calibri"/>
              </a:rPr>
              <a:t>▪  </a:t>
            </a:r>
            <a:r>
              <a:rPr sz="1400">
                <a:solidFill>
                  <a:srgbClr val="41546B"/>
                </a:solidFill>
                <a:latin typeface="Calibri"/>
              </a:rPr>
              <a:t>Organizational scope carried in the security token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C6CA8"/>
                </a:solidFill>
                <a:latin typeface="Calibri"/>
              </a:rPr>
              <a:t>▪  </a:t>
            </a:r>
            <a:r>
              <a:rPr sz="1400">
                <a:solidFill>
                  <a:srgbClr val="41546B"/>
                </a:solidFill>
                <a:latin typeface="Calibri"/>
              </a:rPr>
              <a:t>Automated tenant provisioning with seed configuration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C6CA8"/>
                </a:solidFill>
                <a:latin typeface="Calibri"/>
              </a:rPr>
              <a:t>▪  </a:t>
            </a:r>
            <a:r>
              <a:rPr sz="1400">
                <a:solidFill>
                  <a:srgbClr val="41546B"/>
                </a:solidFill>
                <a:latin typeface="Calibri"/>
              </a:rPr>
              <a:t>Basic 100 · Lite 500 · Premium 50,000 seats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C6CA8"/>
                </a:solidFill>
                <a:latin typeface="Calibri"/>
              </a:rPr>
              <a:t>▪  </a:t>
            </a:r>
            <a:r>
              <a:rPr sz="1400">
                <a:solidFill>
                  <a:srgbClr val="41546B"/>
                </a:solidFill>
                <a:latin typeface="Calibri"/>
              </a:rPr>
              <a:t>Seat and expiry entitlements enforced automatically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Data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570+ tables · 18 schemas · 690+ indexes — engineered for set-based processing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dia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949" y="1627632"/>
            <a:ext cx="5205796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Reporting &amp;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A separate reporting service — no contention with transactional workload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dia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943" y="1627632"/>
            <a:ext cx="9017808" cy="3538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330952"/>
            <a:ext cx="10820095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2C6CA8"/>
                </a:solidFill>
                <a:latin typeface="Calibri"/>
              </a:rPr>
              <a:t>▪  </a:t>
            </a:r>
            <a:r>
              <a:rPr sz="1300">
                <a:solidFill>
                  <a:srgbClr val="41546B"/>
                </a:solidFill>
                <a:latin typeface="Calibri"/>
              </a:rPr>
              <a:t>130+ standard reports served by dedicated tenant-scoped data procedures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C6CA8"/>
                </a:solidFill>
                <a:latin typeface="Calibri"/>
              </a:rPr>
              <a:t>▪  </a:t>
            </a:r>
            <a:r>
              <a:rPr sz="1300">
                <a:solidFill>
                  <a:srgbClr val="41546B"/>
                </a:solidFill>
                <a:latin typeface="Calibri"/>
              </a:rPr>
              <a:t>Render engine selected by output class — statutory, document, spreadsheet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C6CA8"/>
                </a:solidFill>
                <a:latin typeface="Calibri"/>
              </a:rPr>
              <a:t>▪  </a:t>
            </a:r>
            <a:r>
              <a:rPr sz="1300">
                <a:solidFill>
                  <a:srgbClr val="41546B"/>
                </a:solidFill>
                <a:latin typeface="Calibri"/>
              </a:rPr>
              <a:t>Organization-specific templates without forking the report catalogue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Containerized, orchestrated, independently releasable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dia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1178"/>
            <a:ext cx="6059253" cy="45689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7857" y="1719072"/>
            <a:ext cx="4328038" cy="4544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>
                <a:solidFill>
                  <a:srgbClr val="2C6CA8"/>
                </a:solidFill>
                <a:latin typeface="Calibri"/>
              </a:rPr>
              <a:t>▪  </a:t>
            </a:r>
            <a:r>
              <a:rPr sz="1400">
                <a:solidFill>
                  <a:srgbClr val="41546B"/>
                </a:solidFill>
                <a:latin typeface="Calibri"/>
              </a:rPr>
              <a:t>One image promoted across environments; configuration injected per environment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C6CA8"/>
                </a:solidFill>
                <a:latin typeface="Calibri"/>
              </a:rPr>
              <a:t>▪  </a:t>
            </a:r>
            <a:r>
              <a:rPr sz="1400">
                <a:solidFill>
                  <a:srgbClr val="41546B"/>
                </a:solidFill>
                <a:latin typeface="Calibri"/>
              </a:rPr>
              <a:t>The artefact promoted to production is identical to the one validated in staging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Scalability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Scalability designed into the workload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Batch payroll isolated from interactive workload by service boundary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Stateless authentication removes application-tier affinity constraint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Set-based computation at the data tier rather than application iteration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690+ indexes across a 570+ table production schema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Route-level code splitting with vendor chunk separation on the frontend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 b="1">
                <a:solidFill>
                  <a:srgbClr val="12263F"/>
                </a:solidFill>
                <a:latin typeface="Calibri"/>
              </a:rPr>
              <a:t>Production evidence — </a:t>
            </a:r>
            <a:r>
              <a:rPr sz="1600">
                <a:solidFill>
                  <a:srgbClr val="41546B"/>
                </a:solidFill>
                <a:latin typeface="Calibri"/>
              </a:rPr>
              <a:t>core operational tables sustain 20–40 million+ rows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Integration Ecosystem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Open interfaces and proven enterprise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REST across 1,500+ endpoints with OpenAPI specification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 b="1">
                <a:solidFill>
                  <a:srgbClr val="12263F"/>
                </a:solidFill>
                <a:latin typeface="Calibri"/>
              </a:rPr>
              <a:t>Biometric attendance devices — </a:t>
            </a:r>
            <a:r>
              <a:rPr sz="1600">
                <a:solidFill>
                  <a:srgbClr val="41546B"/>
                </a:solidFill>
                <a:latin typeface="Calibri"/>
              </a:rPr>
              <a:t>push-protocol capture plus 18+ scheduled collectors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Real-time in-application notification channel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Firebase Cloud Messaging push delivery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SMTP email for notification and approval routing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Azure Blob and FTP document storage · Managerium ERP integration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Knowledge-Driven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How the platform evolves safely over a multi-year dependency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0820095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A twelve-layer structured knowledge base is the authoritative model of the system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160+ documents · 30+ decision tables · complete inter-module dependency graph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Every proposed change is impact-analyzed against the model before implementation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The first two phases of this framework are in production use today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2C6CA8"/>
                </a:solidFill>
                <a:latin typeface="Calibri"/>
              </a:rPr>
              <a:t>▪  </a:t>
            </a:r>
            <a:r>
              <a:rPr sz="1600">
                <a:solidFill>
                  <a:srgbClr val="41546B"/>
                </a:solidFill>
                <a:latin typeface="Calibri"/>
              </a:rPr>
              <a:t>Addresses what architecture alone cannot: predictable evolution over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What the architecture delivers commercially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5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28038"/>
                <a:gridCol w="649205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Reduced implementation risk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Production-proven across 120+ enterprise customers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Lower operational cost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Configuration-led onboarding rather than code change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Independent scaling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Workload classes scale on separate boundaries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Future-ready platform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Current-generation runtimes, no end-of-life dependency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Enterprise governance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600+ permission controls with organizational scope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High maintainability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Modular boundaries plus a structured knowledge model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Technical Position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820095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2C6CA8"/>
                </a:solidFill>
                <a:latin typeface="Calibri"/>
              </a:rPr>
              <a:t>PeopleDesk HRMS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376"/>
            <a:ext cx="12191695" cy="9525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PeopleDesk HRMS  ·  Customer Confidential  ·  Version 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7A8"/>
                </a:solidFill>
                <a:latin typeface="Calibr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9344"/>
          <a:ext cx="10820094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028"/>
                <a:gridCol w="757406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82296" marR="82296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Four services, workload-class separation, unified data platform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.NET 9 · React 18 · SQL Server 2022 — no end-of-life dependency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Layered controls mapped to the OWASP Secure Coding Practices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SaaS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Tenant-partitioned, three-level organizational hierarchy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Production-validated at multi-million-row operational volume</a:t>
                      </a:r>
                    </a:p>
                  </a:txBody>
                  <a:tcPr anchor="ctr" marL="82296" marR="82296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263F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1546B"/>
                          </a:solidFill>
                          <a:latin typeface="Calibri"/>
                        </a:rPr>
                        <a:t>Open REST plus proven enterprise and device connectivity</a:t>
                      </a:r>
                    </a:p>
                  </a:txBody>
                  <a:tcPr anchor="ctr" marL="82296" marR="82296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93208" y="3703320"/>
            <a:ext cx="2011680" cy="4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FB8D2"/>
                </a:solidFill>
                <a:latin typeface="Calibri"/>
              </a:rPr>
              <a:t>PeopleDesk HRMS  ·  Customer Confidential  ·  Version 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